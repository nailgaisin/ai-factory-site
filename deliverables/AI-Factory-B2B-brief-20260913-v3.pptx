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57d2822944e6f" /><Relationship Type="http://schemas.openxmlformats.org/officeDocument/2006/relationships/extended-properties" Target="/docProps/app.xml" Id="Raf2b58787e004429" /><Relationship Type="http://schemas.openxmlformats.org/officeDocument/2006/relationships/officeDocument" Target="/ppt/presentation.xml" Id="R6b3dc05eb2c0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1032ae39f44c6"/>
  </p:sldMasterIdLst>
  <p:notesMasterIdLst>
    <p:notesMasterId xmlns:r="http://schemas.openxmlformats.org/officeDocument/2006/relationships" r:id="Rcc63c1fe8b524e74"/>
  </p:notesMasterIdLst>
  <p:sldIdLst>
    <p:sldId xmlns:r="http://schemas.openxmlformats.org/officeDocument/2006/relationships" id="256" r:id="Re96b263ab4d845ce"/>
    <p:sldId xmlns:r="http://schemas.openxmlformats.org/officeDocument/2006/relationships" id="257" r:id="Rad830ae0aaeb4150"/>
    <p:sldId xmlns:r="http://schemas.openxmlformats.org/officeDocument/2006/relationships" id="258" r:id="Rfafcaa788fb54249"/>
    <p:sldId xmlns:r="http://schemas.openxmlformats.org/officeDocument/2006/relationships" id="259" r:id="R3edd765218c54e5b"/>
    <p:sldId xmlns:r="http://schemas.openxmlformats.org/officeDocument/2006/relationships" id="260" r:id="Ref77ee3bb85c44d1"/>
    <p:sldId xmlns:r="http://schemas.openxmlformats.org/officeDocument/2006/relationships" id="261" r:id="Rcd52b66702f543ea"/>
    <p:sldId xmlns:r="http://schemas.openxmlformats.org/officeDocument/2006/relationships" id="262" r:id="R114a5b5ff1044e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bd03d4f858424a" /><Relationship Type="http://schemas.openxmlformats.org/officeDocument/2006/relationships/slideMaster" Target="/ppt/slideMasters/slideMaster1.xml" Id="Rbfa1032ae39f44c6" /><Relationship Type="http://schemas.openxmlformats.org/officeDocument/2006/relationships/notesMaster" Target="/ppt/notesMasters/notesMaster1.xml" Id="Rcc63c1fe8b524e74" /><Relationship Type="http://schemas.openxmlformats.org/officeDocument/2006/relationships/presProps" Target="/ppt/presProps.xml" Id="R1aa74cf400444fb4" /><Relationship Type="http://schemas.openxmlformats.org/officeDocument/2006/relationships/tableStyles" Target="/ppt/tableStyles.xml" Id="Rc7088e9a273e45be" /><Relationship Type="http://schemas.openxmlformats.org/officeDocument/2006/relationships/slide" Target="/ppt/slides/slide1.xml" Id="Re96b263ab4d845ce" /><Relationship Type="http://schemas.openxmlformats.org/officeDocument/2006/relationships/slide" Target="/ppt/slides/slide2.xml" Id="Rad830ae0aaeb4150" /><Relationship Type="http://schemas.openxmlformats.org/officeDocument/2006/relationships/slide" Target="/ppt/slides/slide3.xml" Id="Rfafcaa788fb54249" /><Relationship Type="http://schemas.openxmlformats.org/officeDocument/2006/relationships/slide" Target="/ppt/slides/slide4.xml" Id="R3edd765218c54e5b" /><Relationship Type="http://schemas.openxmlformats.org/officeDocument/2006/relationships/slide" Target="/ppt/slides/slide5.xml" Id="Ref77ee3bb85c44d1" /><Relationship Type="http://schemas.openxmlformats.org/officeDocument/2006/relationships/slide" Target="/ppt/slides/slide6.xml" Id="Rcd52b66702f543ea" /><Relationship Type="http://schemas.openxmlformats.org/officeDocument/2006/relationships/slide" Target="/ppt/slides/slide7.xml" Id="R114a5b5ff1044e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6c26be947b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88edbfab5454b" /><Relationship Type="http://schemas.openxmlformats.org/officeDocument/2006/relationships/notesMaster" Target="/ppt/notesMasters/notesMaster1.xml" Id="R3463d163cced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f21588ce34bac" /><Relationship Type="http://schemas.openxmlformats.org/officeDocument/2006/relationships/notesMaster" Target="/ppt/notesMasters/notesMaster1.xml" Id="Ree6d39ce2f2f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17fc0fc434a91" /><Relationship Type="http://schemas.openxmlformats.org/officeDocument/2006/relationships/notesMaster" Target="/ppt/notesMasters/notesMaster1.xml" Id="R153e8bd72f3849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db5b8eb4d4d16" /><Relationship Type="http://schemas.openxmlformats.org/officeDocument/2006/relationships/notesMaster" Target="/ppt/notesMasters/notesMaster1.xml" Id="R3a2198ccc4a3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e41f979d3447d" /><Relationship Type="http://schemas.openxmlformats.org/officeDocument/2006/relationships/notesMaster" Target="/ppt/notesMasters/notesMaster1.xml" Id="R689973b4561f44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08c56b8ae84e1a" /><Relationship Type="http://schemas.openxmlformats.org/officeDocument/2006/relationships/notesMaster" Target="/ppt/notesMasters/notesMaster1.xml" Id="R6c18c3ee7edd4c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8b6239c8849e1" /><Relationship Type="http://schemas.openxmlformats.org/officeDocument/2006/relationships/notesMaster" Target="/ppt/notesMasters/notesMaster1.xml" Id="R0e27bf689d5b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Иллюстрация сгенерирована для этой презентации; факты и предложение основаны на внутреннем плане AI Factory.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описана как типовой сценарий B2B-продаж. Не является утверждением о ситуации конкретной компании.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функциональная концепция AI Factory и текущая связка формы, CRM, Supabase и Telegram. Набор интеграций уточняется в пилоте.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внутренняя коммерческая кампания AI Factory. Состав пилота адаптируется к процессу конкретной компании.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Ожидаемые изменения процесса. Конкретный эффект зависит от исходных данных и измеряется в пилоте.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Условия старта сформулированы как запрос данных для подготовки предложения. Звонок не является обязательным этапом.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цены и состава: внутренняя коммерческая кампания AI Factory. Адрес сайта проверен как рабочий в текущем проекте.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6e3e00c2a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e210ead380457f" /><Relationship Type="http://schemas.openxmlformats.org/officeDocument/2006/relationships/slideLayout" Target="/ppt/slideLayouts/slideLayout1.xml" Id="R48f5a58cdd2d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5a58cdd2d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47ecd448486c" /><Relationship Type="http://schemas.openxmlformats.org/officeDocument/2006/relationships/image" Target="/ppt/media/image.png" Id="R0ba847b76bed409c" /><Relationship Type="http://schemas.openxmlformats.org/officeDocument/2006/relationships/notesSlide" Target="/ppt/notesSlides/notesSlide1.xml" Id="R0ab4a717746f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26cf768c042bd" /><Relationship Type="http://schemas.openxmlformats.org/officeDocument/2006/relationships/notesSlide" Target="/ppt/notesSlides/notesSlide2.xml" Id="R764b67a09f2d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c201385944638" /><Relationship Type="http://schemas.openxmlformats.org/officeDocument/2006/relationships/notesSlide" Target="/ppt/notesSlides/notesSlide3.xml" Id="R34290d98451f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1237baef4baf" /><Relationship Type="http://schemas.openxmlformats.org/officeDocument/2006/relationships/notesSlide" Target="/ppt/notesSlides/notesSlide4.xml" Id="R15317171c872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df14112a04900" /><Relationship Type="http://schemas.openxmlformats.org/officeDocument/2006/relationships/notesSlide" Target="/ppt/notesSlides/notesSlide5.xml" Id="R606ab1ef5525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443efa1e34de7" /><Relationship Type="http://schemas.openxmlformats.org/officeDocument/2006/relationships/notesSlide" Target="/ppt/notesSlides/notesSlide6.xml" Id="R5c899e8b8652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ab4392dd5466b" /><Relationship Type="http://schemas.openxmlformats.org/officeDocument/2006/relationships/notesSlide" Target="/ppt/notesSlides/notesSlide7.xml" Id="Rf40f9fc948fb43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847b76bed409c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5383D-D786-495B-AF08-9098006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7C10E-DF19-481D-BB85-5C11A10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81602-9864-487E-868A-C197738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429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982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Каждая заявка</a:t>
            </a:r>
          </a:p>
          <a:p xmlns:a="http://schemas.openxmlformats.org/drawingml/2006/main">
            <a:pPr algn="l">
              <a:defRPr sz="390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получает следующий шаг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58380-41E1-465B-80EA-BAF61815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Система обработки входящих обращений для производства и B2B-компаний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341B1-3C89-4F54-9DF6-31EC502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08216-4A1E-4515-9F47-FFDBD18F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Мини-разбор в переписке</a:t>
            </a:r>
          </a:p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</p:spTree>
    <p:extLst>
      <p:ext uri="{BB962C8B-B14F-4D97-AF65-F5344CB8AC3E}">
        <p14:creationId xmlns:p14="http://schemas.microsoft.com/office/powerpoint/2010/main" val="794647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DE5F6-B1AB-4449-92DB-FC15DD1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DE977-3007-4F63-AAD2-636BC7A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Где теряются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EF564-5365-434E-A3AC-1F5CE48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BC4F3-BD83-41DA-98CC-1FACD45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У компаний с расчётом и проектными продажами запрос часто проходит через несколько рук. Если не зафиксировать владельца и следующий шаг, руководитель не видит, что происходит с деньгами в воронке.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A57CB-9087-42B0-9133-845E126E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2333E-0AF6-43C4-9D76-EA1F2226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Обращение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33C99-F5CC-40DE-BA7F-830686EA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Заявка приходит с сайта, из мессенджера или по e-mail. В ней может быть файл, ТЗ или неполные данные.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2AD7E-ECB8-43FE-BC6C-BE6347EF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F5368-C41F-4AC2-AB53-C8BD6ABD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4CA22-EC66-4FAB-BFC4-376D2A6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38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Расчёт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E3597-7A69-4F77-90A8-1CBC0E0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100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Менеджер или инженер уточняет вводные. Клиент ждёт стоимость, срок или коммерческое предложение.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10BE8-E392-4F67-AB1E-8533356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E2D3D-E904-428F-9985-7453C1C1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1A08B-8E13-4276-8273-FD30EEC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65E2F-EAC6-46F5-997C-2C5F90DB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Нужно видеть ответственного, статус, дату ответа и причину, если сделка остановилась.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AFEFD-FCE3-48BE-A273-A8585A75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262FF-0643-4BB8-B31D-36C11F8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C8D9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8AEE9-CC90-4A8E-B9C9-CC496AE8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0F0D7-E787-4B11-AB49-324B4BB8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2248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92075-3130-4496-BC71-81412749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55199-DEB6-411C-9BB9-7AFFCBC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Как работает AI Factory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56A5B-AA96-44A4-A846-0454026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C79B9-AD4B-468A-9A68-490C185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В пилоте мы собираем единый процесс обработки обращений. Не обещаем рост продаж до измерения исходной воронки.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69AE-0D10-41FD-9032-A101E1E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93786-CB4E-4BBF-A75A-151DF89C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Входящая заявка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32743-C75A-4BCB-AE5B-00D28351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Форма сайта или контакт из переписки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1DE12-A7B1-4200-B8BF-1CA58951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4883-6264-4C27-A2FF-0289422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EA4E2-B69F-4819-9B89-D9647F0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Карточка клиента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6C3BA-0F25-4B5B-98F0-84AEAC7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291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Компания, запрос, канал, ответственный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30144-D3A2-4A42-BD79-5721BD7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019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83AB7-5144-48D1-99AD-4F0B59FD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F82A6-B772-4767-93BA-073C9C8B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Приоритет и уведомление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AEABD-CB89-4687-85B8-0920F2D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Кому взять в работу и что сделать первым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1D3AA-F3CF-40EB-8B63-5D2755B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7BD73-DE9B-4C13-852B-497B3D5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E2EBE-481F-485F-85CE-64F0D35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14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1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Статус и контроль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09027-D816-479C-B6B1-8DBDF768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291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Следующий шаг и видимость для руководителя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253C2-FC1B-423E-B950-2AC27960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723A9-0B98-477A-A6B7-6E7100D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C8D9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94C39-83A5-4EBA-AAB3-BB750B0F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30EE0-0E32-4437-8782-8A77568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9480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66D67-B3EC-4A40-92DD-18B9029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F1543-3ABF-440B-AB54-A549EEC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Пилот «Заявка → сделка за 14 дней»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D4098-0640-475B-B0BD-EE78B519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AEC6A-9686-4300-B7C2-B58FDBD0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Фокус пилота — сделать путь новых обращений управляемым и измеримым.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91DA1-99ED-4D86-ABEE-8AD06F3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59489-729C-49DB-AAB7-7E174F05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Разбор текущего пути заявки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AD90F-2C4A-4EC6-8398-CB60B127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Откуда приходят обращения, где пропадает ответственный или следующий контакт.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9CBD0-7B74-4F53-9CD2-CDC0406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5F6F6-E80F-4422-B066-CEA6C1BF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C640C-68EB-471F-A20A-90385FD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Настройка единой воронки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D11F4-DB1C-428C-A5A3-C778445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99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Карточки, статусы и понятные правила работы с новыми запросами.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2ED46-774E-461A-A2C8-81A8D792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C76F7-4306-4245-8AE8-2EEEC8B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0AACF-DF72-4D41-B4B8-C2E9F9C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Уведомления и приоритет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A9693-BC7E-4BF5-ABB6-66AAD339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Новые заявки не остаются незамеченными, а менеджер понимает, что делать первым.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06B50-4373-4251-AA24-496C8AD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12861-084A-4BE1-871F-163E505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79A84-D907-41AF-AEF9-D9B5A494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Шаблоны и отчёт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4CE98-DF3F-47DC-BDC1-F0D6CCA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720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Первый ответ, follow-up и видимость результата для руководителя.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4F6DC-2233-41AE-A7AC-BB493C2D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A1FF7-E0CA-4F3D-AFD7-8912992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C8D9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1DE6E-9066-41E4-A5F8-71631C0B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613E1-2292-428F-AC90-3D3ED5C6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8802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7A809-A4EF-4444-B102-D92ACA8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3F2B8-C51B-4FB6-A5E5-D01498D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Что получает руководитель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1C61-DF7B-4161-ADD1-8E238AC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CC776-7FF5-487D-B154-40D8AF2F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После настройки видно не только количество обращений, но и движение каждой новой заявки.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2FCA-CC6B-4186-BA81-393E9EE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93A9"/>
                </a:solidFill>
                <a:latin typeface="Arial"/>
                <a:ea typeface="Arial"/>
                <a:cs typeface="Arial"/>
              </a:rPr>
              <a:t>До настройки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7FE35-2784-46F3-8B5E-D185ADF8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После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DA587-6B19-4283-ACC0-361F5D84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F1FF0-9DB1-43C5-BEB1-3863E02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976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B277B-35F2-4968-A33C-84004681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Запросы остаются в разных каналах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EF4F-91EA-44CA-9718-823D305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0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7F269-FEBA-4259-A83B-D048700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Новые обращения собраны в понятный поток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B6B50-08B1-48BA-84B5-E20B9977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976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6C4EF-381A-4EB2-97F1-3402B11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Неясно, кто взял заявку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BF8C4-C83B-4C2D-8385-9B53BA66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0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19651-B1FD-477B-8F64-BE7F5F9B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86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За заявкой закреплён ответственный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53737-B501-41F5-9278-601CCD6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976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980D1-9FCD-4B88-AF8E-8D57A8DE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Нет единого статуса и следующего шага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9DC30-77E5-43A4-9947-05F2BD7A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0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621F2-CC4A-45C6-B091-E19FA70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Статус и следующий шаг видны в карточке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4AA3A-2CDA-4AF3-96CD-5228D2F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976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E0E82-933E-41C2-8535-FD152088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Руководитель узнаёт о проблеме слишком поздно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49EE0-B70E-4252-B112-4B170DD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0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55169-9B4B-432A-BA26-D8F3701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BFF"/>
                </a:solidFill>
                <a:latin typeface="Arial"/>
                <a:ea typeface="Arial"/>
                <a:cs typeface="Arial"/>
              </a:rPr>
              <a:t>Можно разбирать задержки по реальным обращениям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698E6-58E7-409F-AFA3-A972849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4529F-B2C0-4507-BD50-0376C862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C8D9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B2C78-F81A-40D5-88DC-206BED2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DA675-8247-40C5-9A7E-6A5AE9C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0139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4F2E3-DC15-46FA-A486-94F9FB3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D98C4-3985-4F13-B22A-0AF98089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Что нужно для старта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28E0F-047E-4F84-86F1-90F2965E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ADB50-4B83-4851-AD4F-CD50A15F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Чтобы предложить рабочую схему, сначала разбираем реальный путь заявки компании.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6DA1A-25B5-4579-9614-15AE6EA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F9FA-A742-4D70-A68E-705D69E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Ваш сайт или форма заявки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32388-B9FA-4564-8BDE-1FC58D06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Покажем, где обращение входит в работу.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B4386-DB61-47CB-B54B-B51AF27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DD64-B150-4A5C-A8B7-40AFB17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5F495-DAF3-49B4-B496-5301F73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Два-три примера реальных запросов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422E0-ED1B-449C-99EE-FA22110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Поймём, какие данные нужны для расчёта и ответа.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8224F-0CDA-4C82-9E65-5D93D227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1E62B-134D-412A-9664-F5D0FC60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EF62E-957E-4B5A-AFF8-D52767FF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Текущий способ учёта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16061-4F3D-4C54-8836-F8E3BF7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CRM, таблица, мессенджеры или рабочая почта.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807B4-D67A-4C08-ABD8-836E4568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61F3D-2139-423D-97D7-E357CB3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80FBF-FC4C-4B2E-8E6D-07481CDA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Один ответственный со стороны компании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7D292-EDD5-4D78-A3BC-D89001B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24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С ним согласуем процесс и следующий шаг.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BF8E0-3359-41D1-8227-D36C27B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E2E8"/>
                </a:solidFill>
                <a:latin typeface="Arial"/>
                <a:ea typeface="Arial"/>
                <a:cs typeface="Arial"/>
              </a:rPr>
              <a:t>Переписка подходит для первого разбора. Короткий звонок — только если вам так удобнее.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3D376-FC55-4842-B780-A1E4A81F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D2CDD-5CD8-4397-BDE6-7BEC829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C8D9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771B2-48EF-4BD0-95B1-839157B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D88C9-D1AD-46A1-B434-26A003C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3A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3A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9579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FDCE-1210-45DE-969B-8268B9A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AI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D21F-DC40-4A2C-B52A-E475DD2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Получите мини-разбор</a:t>
            </a:r>
          </a:p>
          <a:p xmlns:a="http://schemas.openxmlformats.org/drawingml/2006/main">
            <a:pPr algn="l">
              <a:defRPr sz="3675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вашей воронки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8DDA-76EB-46B5-B6FD-26385A8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Оставьте Telegram, WhatsApp, другой мессенджер или e-mail. Сначала разберём путь обращения в переписке и предложим подходящий следующий шаг.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51610-0141-4A4C-8F92-59F4F56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122B4-8AEE-49BE-B92D-C9A9D2E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9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Пилот «Заявка → сделка за 14 дней»</a:t>
            </a:r>
          </a:p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49 000 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1BE98-DF55-4311-B55E-27629E3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E2E8"/>
                </a:solidFill>
                <a:latin typeface="Arial"/>
                <a:ea typeface="Arial"/>
                <a:cs typeface="Arial"/>
              </a:rPr>
              <a:t>ai-factory-sales.netlify.app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B7A7E-6B8D-422D-B3FD-AAF2D1A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9"/>
                </a:solidFill>
                <a:latin typeface="Arial"/>
                <a:ea typeface="Arial"/>
                <a:cs typeface="Arial"/>
              </a:rPr>
              <a:t>Сопровождение после пилота — от 25 000 ₽ в месяц, если нужно дальнейшее развитие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872655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2026-09-13T05:14:41.3480000Z</dcterms:created>
  <dcterms:modified xsi:type="dcterms:W3CDTF">2026-09-13T05:14:41.3480000Z</dcterms:modified>
</coreProperties>
</file>